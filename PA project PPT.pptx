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80D0E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00566" cy="680999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20"/>
            <a:ext cx="8984996" cy="664406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600217"/>
            <a:ext cx="8779891" cy="78058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8811260" cy="6419850"/>
          </a:xfrm>
          <a:custGeom>
            <a:avLst/>
            <a:gdLst/>
            <a:ahLst/>
            <a:cxnLst/>
            <a:rect l="l" t="t" r="r" b="b"/>
            <a:pathLst>
              <a:path w="8811260" h="6419850">
                <a:moveTo>
                  <a:pt x="8793479" y="0"/>
                </a:moveTo>
                <a:lnTo>
                  <a:pt x="8810878" y="6419519"/>
                </a:lnTo>
                <a:lnTo>
                  <a:pt x="0" y="6411067"/>
                </a:lnTo>
              </a:path>
            </a:pathLst>
          </a:custGeom>
          <a:ln w="825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80D0E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80D0E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80D0E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00566" cy="680999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" y="20"/>
            <a:ext cx="8984996" cy="664406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5600217"/>
            <a:ext cx="8779891" cy="78058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8811260" cy="6419850"/>
          </a:xfrm>
          <a:custGeom>
            <a:avLst/>
            <a:gdLst/>
            <a:ahLst/>
            <a:cxnLst/>
            <a:rect l="l" t="t" r="r" b="b"/>
            <a:pathLst>
              <a:path w="8811260" h="6419850">
                <a:moveTo>
                  <a:pt x="8793479" y="0"/>
                </a:moveTo>
                <a:lnTo>
                  <a:pt x="8810878" y="6419519"/>
                </a:lnTo>
                <a:lnTo>
                  <a:pt x="0" y="6411067"/>
                </a:lnTo>
              </a:path>
            </a:pathLst>
          </a:custGeom>
          <a:ln w="825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876045"/>
            <a:ext cx="79575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80D0E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3242" y="2619676"/>
            <a:ext cx="7602855" cy="2197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Impact"/>
                <a:cs typeface="Impac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41275" y="-41275"/>
            <a:ext cx="9185275" cy="6899275"/>
            <a:chOff x="-41275" y="-41275"/>
            <a:chExt cx="9185275" cy="68992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862822" cy="660120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" y="19"/>
              <a:ext cx="8746084" cy="643420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45000"/>
              <a:ext cx="8454263" cy="171566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5808345" cy="32140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8454390" cy="6173470"/>
            </a:xfrm>
            <a:custGeom>
              <a:avLst/>
              <a:gdLst/>
              <a:ahLst/>
              <a:cxnLst/>
              <a:rect l="l" t="t" r="r" b="b"/>
              <a:pathLst>
                <a:path w="8454390" h="6173470">
                  <a:moveTo>
                    <a:pt x="8126552" y="0"/>
                  </a:moveTo>
                  <a:lnTo>
                    <a:pt x="8454263" y="5733173"/>
                  </a:lnTo>
                  <a:lnTo>
                    <a:pt x="0" y="6173375"/>
                  </a:lnTo>
                </a:path>
              </a:pathLst>
            </a:custGeom>
            <a:ln w="825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9119" y="5057521"/>
              <a:ext cx="514984" cy="523240"/>
            </a:xfrm>
            <a:custGeom>
              <a:avLst/>
              <a:gdLst/>
              <a:ahLst/>
              <a:cxnLst/>
              <a:rect l="l" t="t" r="r" b="b"/>
              <a:pathLst>
                <a:path w="514985" h="523239">
                  <a:moveTo>
                    <a:pt x="247015" y="0"/>
                  </a:moveTo>
                  <a:lnTo>
                    <a:pt x="170560" y="166115"/>
                  </a:lnTo>
                  <a:lnTo>
                    <a:pt x="0" y="210057"/>
                  </a:lnTo>
                  <a:lnTo>
                    <a:pt x="127000" y="338708"/>
                  </a:lnTo>
                  <a:lnTo>
                    <a:pt x="114935" y="522985"/>
                  </a:lnTo>
                  <a:lnTo>
                    <a:pt x="269875" y="436371"/>
                  </a:lnTo>
                  <a:lnTo>
                    <a:pt x="433069" y="506348"/>
                  </a:lnTo>
                  <a:lnTo>
                    <a:pt x="401828" y="324230"/>
                  </a:lnTo>
                  <a:lnTo>
                    <a:pt x="514731" y="183133"/>
                  </a:lnTo>
                  <a:lnTo>
                    <a:pt x="340359" y="157225"/>
                  </a:lnTo>
                  <a:lnTo>
                    <a:pt x="247015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87805" y="612394"/>
            <a:ext cx="6447155" cy="2800350"/>
          </a:xfrm>
          <a:prstGeom prst="rect"/>
        </p:spPr>
        <p:txBody>
          <a:bodyPr wrap="square" lIns="0" tIns="112395" rIns="0" bIns="0" rtlCol="0" vert="horz">
            <a:spAutoFit/>
          </a:bodyPr>
          <a:lstStyle/>
          <a:p>
            <a:pPr algn="r" marL="1742439" marR="5080" indent="-1730375">
              <a:lnSpc>
                <a:spcPct val="90000"/>
              </a:lnSpc>
              <a:spcBef>
                <a:spcPts val="885"/>
              </a:spcBef>
            </a:pPr>
            <a:r>
              <a:rPr dirty="0" sz="6500"/>
              <a:t>STUDENT</a:t>
            </a:r>
            <a:r>
              <a:rPr dirty="0" sz="6500" spc="-5"/>
              <a:t> </a:t>
            </a:r>
            <a:r>
              <a:rPr dirty="0" sz="6500" spc="-10"/>
              <a:t>ACADEMIC PERFORMANCE PREDICTION</a:t>
            </a:r>
            <a:endParaRPr sz="6500"/>
          </a:p>
        </p:txBody>
      </p:sp>
      <p:sp>
        <p:nvSpPr>
          <p:cNvPr id="12" name="object 12" descr=""/>
          <p:cNvSpPr txBox="1"/>
          <p:nvPr/>
        </p:nvSpPr>
        <p:spPr>
          <a:xfrm>
            <a:off x="4180078" y="3305805"/>
            <a:ext cx="3807460" cy="1156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88975">
              <a:lnSpc>
                <a:spcPct val="154600"/>
              </a:lnSpc>
              <a:spcBef>
                <a:spcPts val="95"/>
              </a:spcBef>
            </a:pPr>
            <a:r>
              <a:rPr dirty="0" sz="2400">
                <a:solidFill>
                  <a:srgbClr val="7E7E7E"/>
                </a:solidFill>
                <a:latin typeface="Impact"/>
                <a:cs typeface="Impact"/>
              </a:rPr>
              <a:t>USING</a:t>
            </a:r>
            <a:r>
              <a:rPr dirty="0" sz="2400" spc="-30">
                <a:solidFill>
                  <a:srgbClr val="7E7E7E"/>
                </a:solidFill>
                <a:latin typeface="Impact"/>
                <a:cs typeface="Impact"/>
              </a:rPr>
              <a:t> </a:t>
            </a:r>
            <a:r>
              <a:rPr dirty="0" sz="2400">
                <a:solidFill>
                  <a:srgbClr val="7E7E7E"/>
                </a:solidFill>
                <a:latin typeface="Impact"/>
                <a:cs typeface="Impact"/>
              </a:rPr>
              <a:t>IBM</a:t>
            </a:r>
            <a:r>
              <a:rPr dirty="0" sz="2400" spc="-30">
                <a:solidFill>
                  <a:srgbClr val="7E7E7E"/>
                </a:solidFill>
                <a:latin typeface="Impact"/>
                <a:cs typeface="Impact"/>
              </a:rPr>
              <a:t> </a:t>
            </a:r>
            <a:r>
              <a:rPr dirty="0" sz="2400">
                <a:solidFill>
                  <a:srgbClr val="7E7E7E"/>
                </a:solidFill>
                <a:latin typeface="Impact"/>
                <a:cs typeface="Impact"/>
              </a:rPr>
              <a:t>SPSS</a:t>
            </a:r>
            <a:r>
              <a:rPr dirty="0" sz="2400" spc="-35">
                <a:solidFill>
                  <a:srgbClr val="7E7E7E"/>
                </a:solidFill>
                <a:latin typeface="Impact"/>
                <a:cs typeface="Impact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Impact"/>
                <a:cs typeface="Impact"/>
              </a:rPr>
              <a:t>MODELER </a:t>
            </a:r>
            <a:r>
              <a:rPr dirty="0" sz="2400">
                <a:solidFill>
                  <a:srgbClr val="7E7E7E"/>
                </a:solidFill>
                <a:latin typeface="Impact"/>
                <a:cs typeface="Impact"/>
              </a:rPr>
              <a:t>PREDICTIVE</a:t>
            </a:r>
            <a:r>
              <a:rPr dirty="0" sz="2400" spc="-60">
                <a:solidFill>
                  <a:srgbClr val="7E7E7E"/>
                </a:solidFill>
                <a:latin typeface="Impact"/>
                <a:cs typeface="Impact"/>
              </a:rPr>
              <a:t> </a:t>
            </a:r>
            <a:r>
              <a:rPr dirty="0" sz="2400" spc="-25">
                <a:solidFill>
                  <a:srgbClr val="7E7E7E"/>
                </a:solidFill>
                <a:latin typeface="Impact"/>
                <a:cs typeface="Impact"/>
              </a:rPr>
              <a:t>ANALYTICS</a:t>
            </a:r>
            <a:r>
              <a:rPr dirty="0" sz="2400" spc="-50">
                <a:solidFill>
                  <a:srgbClr val="7E7E7E"/>
                </a:solidFill>
                <a:latin typeface="Impact"/>
                <a:cs typeface="Impact"/>
              </a:rPr>
              <a:t> </a:t>
            </a:r>
            <a:r>
              <a:rPr dirty="0" sz="2400" spc="-10">
                <a:solidFill>
                  <a:srgbClr val="7E7E7E"/>
                </a:solidFill>
                <a:latin typeface="Impact"/>
                <a:cs typeface="Impact"/>
              </a:rPr>
              <a:t>PROJECT</a:t>
            </a:r>
            <a:endParaRPr sz="24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50"/>
              <a:t> </a:t>
            </a:r>
            <a:r>
              <a:rPr dirty="0" spc="-10"/>
              <a:t>EDUCATIONAL</a:t>
            </a:r>
            <a:r>
              <a:rPr dirty="0" spc="-25"/>
              <a:t> </a:t>
            </a:r>
            <a:r>
              <a:rPr dirty="0"/>
              <a:t>INSTITUTIONS</a:t>
            </a:r>
            <a:r>
              <a:rPr dirty="0" spc="-15"/>
              <a:t> </a:t>
            </a:r>
            <a:r>
              <a:rPr dirty="0" spc="-20"/>
              <a:t>GENERATE</a:t>
            </a:r>
            <a:r>
              <a:rPr dirty="0" spc="-55"/>
              <a:t> </a:t>
            </a:r>
            <a:r>
              <a:rPr dirty="0"/>
              <a:t>LARGE</a:t>
            </a:r>
            <a:r>
              <a:rPr dirty="0" spc="-60"/>
              <a:t> </a:t>
            </a:r>
            <a:r>
              <a:rPr dirty="0"/>
              <a:t>VOLUMES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STUDENT</a:t>
            </a:r>
            <a:r>
              <a:rPr dirty="0" spc="-10"/>
              <a:t> DATA.</a:t>
            </a: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40"/>
              <a:t> </a:t>
            </a:r>
            <a:r>
              <a:rPr dirty="0"/>
              <a:t>PREDICTIVE</a:t>
            </a:r>
            <a:r>
              <a:rPr dirty="0" spc="-40"/>
              <a:t> </a:t>
            </a:r>
            <a:r>
              <a:rPr dirty="0" spc="-20"/>
              <a:t>ANALYTICS</a:t>
            </a:r>
            <a:r>
              <a:rPr dirty="0" spc="-35"/>
              <a:t> </a:t>
            </a:r>
            <a:r>
              <a:rPr dirty="0"/>
              <a:t>HELPS</a:t>
            </a:r>
            <a:r>
              <a:rPr dirty="0" spc="-50"/>
              <a:t> </a:t>
            </a:r>
            <a:r>
              <a:rPr dirty="0"/>
              <a:t>FORECAST</a:t>
            </a:r>
            <a:r>
              <a:rPr dirty="0" spc="-30"/>
              <a:t> </a:t>
            </a:r>
            <a:r>
              <a:rPr dirty="0"/>
              <a:t>ACADEMIC</a:t>
            </a:r>
            <a:r>
              <a:rPr dirty="0" spc="-50"/>
              <a:t> </a:t>
            </a:r>
            <a:r>
              <a:rPr dirty="0" spc="-10"/>
              <a:t>OUTCOMES.</a:t>
            </a: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/>
              <a:t>•</a:t>
            </a:r>
            <a:r>
              <a:rPr dirty="0" spc="-45"/>
              <a:t> </a:t>
            </a:r>
            <a:r>
              <a:rPr dirty="0"/>
              <a:t>IBM</a:t>
            </a:r>
            <a:r>
              <a:rPr dirty="0" spc="-30"/>
              <a:t> </a:t>
            </a:r>
            <a:r>
              <a:rPr dirty="0"/>
              <a:t>SPSS</a:t>
            </a:r>
            <a:r>
              <a:rPr dirty="0" spc="-30"/>
              <a:t> </a:t>
            </a:r>
            <a:r>
              <a:rPr dirty="0"/>
              <a:t>MODELER</a:t>
            </a:r>
            <a:r>
              <a:rPr dirty="0" spc="-55"/>
              <a:t> </a:t>
            </a:r>
            <a:r>
              <a:rPr dirty="0"/>
              <a:t>ENABLES</a:t>
            </a:r>
            <a:r>
              <a:rPr dirty="0" spc="-50"/>
              <a:t> </a:t>
            </a:r>
            <a:r>
              <a:rPr dirty="0"/>
              <a:t>EFFECTIVE</a:t>
            </a:r>
            <a:r>
              <a:rPr dirty="0" spc="-15"/>
              <a:t> </a:t>
            </a:r>
            <a:r>
              <a:rPr dirty="0" spc="-55"/>
              <a:t>DATA</a:t>
            </a:r>
            <a:r>
              <a:rPr dirty="0" spc="-30"/>
              <a:t> </a:t>
            </a:r>
            <a:r>
              <a:rPr dirty="0"/>
              <a:t>MINING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MODELING.</a:t>
            </a: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45"/>
              <a:t> </a:t>
            </a:r>
            <a:r>
              <a:rPr dirty="0"/>
              <a:t>PROJECT</a:t>
            </a:r>
            <a:r>
              <a:rPr dirty="0" spc="-30"/>
              <a:t> </a:t>
            </a:r>
            <a:r>
              <a:rPr dirty="0"/>
              <a:t>AIMS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PREDICT</a:t>
            </a:r>
            <a:r>
              <a:rPr dirty="0" spc="-50"/>
              <a:t> </a:t>
            </a:r>
            <a:r>
              <a:rPr dirty="0"/>
              <a:t>FINAL</a:t>
            </a:r>
            <a:r>
              <a:rPr dirty="0" spc="-25"/>
              <a:t> </a:t>
            </a:r>
            <a:r>
              <a:rPr dirty="0"/>
              <a:t>STUDENT</a:t>
            </a:r>
            <a:r>
              <a:rPr dirty="0" spc="-20"/>
              <a:t> </a:t>
            </a:r>
            <a:r>
              <a:rPr dirty="0"/>
              <a:t>GRADES</a:t>
            </a:r>
            <a:r>
              <a:rPr dirty="0" spc="-65"/>
              <a:t> </a:t>
            </a:r>
            <a:r>
              <a:rPr dirty="0"/>
              <a:t>USING</a:t>
            </a:r>
            <a:r>
              <a:rPr dirty="0" spc="-15"/>
              <a:t> </a:t>
            </a:r>
            <a:r>
              <a:rPr dirty="0" spc="-10"/>
              <a:t>HISTORICAL</a:t>
            </a: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dirty="0" spc="-10"/>
              <a:t>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40"/>
              <a:t> </a:t>
            </a:r>
            <a:r>
              <a:rPr dirty="0"/>
              <a:t>PREDICT</a:t>
            </a:r>
            <a:r>
              <a:rPr dirty="0" spc="-30"/>
              <a:t> </a:t>
            </a:r>
            <a:r>
              <a:rPr dirty="0"/>
              <a:t>STUDENT</a:t>
            </a:r>
            <a:r>
              <a:rPr dirty="0" spc="-25"/>
              <a:t> </a:t>
            </a:r>
            <a:r>
              <a:rPr dirty="0"/>
              <a:t>ACADEMIC</a:t>
            </a:r>
            <a:r>
              <a:rPr dirty="0" spc="-40"/>
              <a:t> </a:t>
            </a:r>
            <a:r>
              <a:rPr dirty="0"/>
              <a:t>PERFORMANCE</a:t>
            </a:r>
            <a:r>
              <a:rPr dirty="0" spc="-55"/>
              <a:t> </a:t>
            </a:r>
            <a:r>
              <a:rPr dirty="0"/>
              <a:t>USING</a:t>
            </a:r>
            <a:r>
              <a:rPr dirty="0" spc="-25"/>
              <a:t> </a:t>
            </a:r>
            <a:r>
              <a:rPr dirty="0"/>
              <a:t>MACHINE</a:t>
            </a:r>
            <a:r>
              <a:rPr dirty="0" spc="-35"/>
              <a:t> </a:t>
            </a:r>
            <a:r>
              <a:rPr dirty="0" spc="-10"/>
              <a:t>LEARNING.</a:t>
            </a: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35"/>
              <a:t> </a:t>
            </a:r>
            <a:r>
              <a:rPr dirty="0"/>
              <a:t>UTILIZE</a:t>
            </a:r>
            <a:r>
              <a:rPr dirty="0" spc="-25"/>
              <a:t> </a:t>
            </a:r>
            <a:r>
              <a:rPr dirty="0" spc="-35"/>
              <a:t>DATASET</a:t>
            </a:r>
            <a:r>
              <a:rPr dirty="0" spc="-40"/>
              <a:t> </a:t>
            </a:r>
            <a:r>
              <a:rPr dirty="0" spc="-10"/>
              <a:t>CONTAINING</a:t>
            </a:r>
            <a:r>
              <a:rPr dirty="0" spc="-5"/>
              <a:t> </a:t>
            </a:r>
            <a:r>
              <a:rPr dirty="0"/>
              <a:t>DEMOGRAPHIC,</a:t>
            </a:r>
            <a:r>
              <a:rPr dirty="0" spc="-50"/>
              <a:t> </a:t>
            </a:r>
            <a:r>
              <a:rPr dirty="0"/>
              <a:t>BEHAVIORAL,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ACADEMIC</a:t>
            </a: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dirty="0" spc="-10"/>
              <a:t>ATTRIBUTES.</a:t>
            </a: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25"/>
              <a:t> </a:t>
            </a:r>
            <a:r>
              <a:rPr dirty="0"/>
              <a:t>BUILD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COMPARE</a:t>
            </a:r>
            <a:r>
              <a:rPr dirty="0" spc="-50"/>
              <a:t> </a:t>
            </a:r>
            <a:r>
              <a:rPr dirty="0"/>
              <a:t>PREDICTIVE</a:t>
            </a:r>
            <a:r>
              <a:rPr dirty="0" spc="-25"/>
              <a:t> </a:t>
            </a:r>
            <a:r>
              <a:rPr dirty="0"/>
              <a:t>MODELS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IBM</a:t>
            </a:r>
            <a:r>
              <a:rPr dirty="0" spc="-15"/>
              <a:t> </a:t>
            </a:r>
            <a:r>
              <a:rPr dirty="0"/>
              <a:t>SPSS</a:t>
            </a:r>
            <a:r>
              <a:rPr dirty="0" spc="-15"/>
              <a:t> </a:t>
            </a:r>
            <a:r>
              <a:rPr dirty="0" spc="-10"/>
              <a:t>MODELER.</a:t>
            </a:r>
          </a:p>
          <a:p>
            <a:pPr marL="240029" indent="-227329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/>
              <a:t>•</a:t>
            </a:r>
            <a:r>
              <a:rPr dirty="0" spc="-40"/>
              <a:t> </a:t>
            </a:r>
            <a:r>
              <a:rPr dirty="0"/>
              <a:t>IDENTIFY</a:t>
            </a:r>
            <a:r>
              <a:rPr dirty="0" spc="-25"/>
              <a:t> </a:t>
            </a:r>
            <a:r>
              <a:rPr dirty="0"/>
              <a:t>INFLUENTIAL</a:t>
            </a:r>
            <a:r>
              <a:rPr dirty="0" spc="-15"/>
              <a:t> </a:t>
            </a:r>
            <a:r>
              <a:rPr dirty="0" spc="-10"/>
              <a:t>FACTORS</a:t>
            </a:r>
            <a:r>
              <a:rPr dirty="0" spc="-40"/>
              <a:t> </a:t>
            </a:r>
            <a:r>
              <a:rPr dirty="0"/>
              <a:t>AFFECTING</a:t>
            </a:r>
            <a:r>
              <a:rPr dirty="0" spc="-10"/>
              <a:t> </a:t>
            </a:r>
            <a:r>
              <a:rPr dirty="0"/>
              <a:t>ACADEMIC</a:t>
            </a:r>
            <a:r>
              <a:rPr dirty="0" spc="-60"/>
              <a:t> </a:t>
            </a:r>
            <a:r>
              <a:rPr dirty="0" spc="-10"/>
              <a:t>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DATASET</a:t>
            </a:r>
            <a:r>
              <a:rPr dirty="0" spc="-125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372511"/>
            <a:ext cx="6376035" cy="27203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TOTAL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RECORDS: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395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STUDENTS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TOTAL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ATTRIBUTES: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 spc="-25">
                <a:latin typeface="Impact"/>
                <a:cs typeface="Impact"/>
              </a:rPr>
              <a:t>33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CONTAINS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DEMOGRAPHIC,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55">
                <a:latin typeface="Impact"/>
                <a:cs typeface="Impact"/>
              </a:rPr>
              <a:t>FAMILY,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LIFESTYLE,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ACADEMIC</a:t>
            </a:r>
            <a:endParaRPr sz="2000">
              <a:latin typeface="Impact"/>
              <a:cs typeface="Impact"/>
            </a:endParaRP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latin typeface="Impact"/>
                <a:cs typeface="Impact"/>
              </a:rPr>
              <a:t>INFORMATION.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TARGET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VARIABLE: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G3</a:t>
            </a:r>
            <a:r>
              <a:rPr dirty="0" sz="2000" spc="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–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FINAL</a:t>
            </a:r>
            <a:r>
              <a:rPr dirty="0" sz="2000" spc="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GRADE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INCLUDES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PAST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GRADES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(G1,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G2),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STUDY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TIME,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ABSENCES,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ETC.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dirty="0" spc="-50"/>
              <a:t> </a:t>
            </a:r>
            <a:r>
              <a:rPr dirty="0" spc="-45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26551"/>
            <a:ext cx="7477125" cy="17748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INSTITUTIONS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STRUGGLE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TO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IDENTIFY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ACADEMICALLY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 spc="-90">
                <a:latin typeface="Impact"/>
                <a:cs typeface="Impact"/>
              </a:rPr>
              <a:t>AT-</a:t>
            </a:r>
            <a:r>
              <a:rPr dirty="0" sz="2000">
                <a:latin typeface="Impact"/>
                <a:cs typeface="Impact"/>
              </a:rPr>
              <a:t>RISK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STUDENTS</a:t>
            </a:r>
            <a:endParaRPr sz="2000">
              <a:latin typeface="Impact"/>
              <a:cs typeface="Impact"/>
            </a:endParaRPr>
          </a:p>
          <a:p>
            <a:pPr marL="241300">
              <a:lnSpc>
                <a:spcPct val="100000"/>
              </a:lnSpc>
              <a:spcBef>
                <a:spcPts val="484"/>
              </a:spcBef>
            </a:pPr>
            <a:r>
              <a:rPr dirty="0" sz="2000" spc="-10">
                <a:latin typeface="Impact"/>
                <a:cs typeface="Impact"/>
              </a:rPr>
              <a:t>EARLY.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LACK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OF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50">
                <a:latin typeface="Impact"/>
                <a:cs typeface="Impact"/>
              </a:rPr>
              <a:t>DATA-</a:t>
            </a:r>
            <a:r>
              <a:rPr dirty="0" sz="2000">
                <a:latin typeface="Impact"/>
                <a:cs typeface="Impact"/>
              </a:rPr>
              <a:t>DRIVEN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DECISION-</a:t>
            </a:r>
            <a:r>
              <a:rPr dirty="0" sz="2000">
                <a:latin typeface="Impact"/>
                <a:cs typeface="Impact"/>
              </a:rPr>
              <a:t>MAKING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 </a:t>
            </a:r>
            <a:r>
              <a:rPr dirty="0" sz="2000" spc="-10">
                <a:latin typeface="Impact"/>
                <a:cs typeface="Impact"/>
              </a:rPr>
              <a:t>EVALUATION.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NEED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PREDICTIVE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SYSTEM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TO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SUPPORT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25">
                <a:latin typeface="Impact"/>
                <a:cs typeface="Impact"/>
              </a:rPr>
              <a:t>TIMELY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INTERVENTION.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02763"/>
            <a:ext cx="6607175" cy="186118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FINAL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6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PERFORMANCE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ACCURATELY.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ANALYZE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FACTORS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INFLUENCING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6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OUTCOMES.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SUPPORT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EDUCATORS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PROACTIVE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GUIDANCE.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IMPROVE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INSTITUTIONAL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PLANNING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RETENTION.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TOOLS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TECHNOLOGIES</a:t>
            </a:r>
            <a:r>
              <a:rPr dirty="0" spc="-85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02763"/>
            <a:ext cx="5420360" cy="186118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IBM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SPSS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MODELER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50">
                <a:latin typeface="Impact"/>
                <a:cs typeface="Impact"/>
              </a:rPr>
              <a:t>DATA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MINING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PREDICTIVE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ANALYTICS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25">
                <a:latin typeface="Impact"/>
                <a:cs typeface="Impact"/>
              </a:rPr>
              <a:t>STATISTICAL</a:t>
            </a:r>
            <a:r>
              <a:rPr dirty="0" sz="2000">
                <a:latin typeface="Impact"/>
                <a:cs typeface="Impact"/>
              </a:rPr>
              <a:t> &amp;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MACHINE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LEARNING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ALGORITHMS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MICROSOFT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EXCEL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(OPTIONAL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FOR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PREPROCESSING)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METHODOLOGY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164842"/>
            <a:ext cx="4414520" cy="3135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1.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50">
                <a:latin typeface="Impact"/>
                <a:cs typeface="Impact"/>
              </a:rPr>
              <a:t>DATA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COLLECTION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UNDERSTANDING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23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2.</a:t>
            </a:r>
            <a:r>
              <a:rPr dirty="0" sz="2000" spc="15">
                <a:latin typeface="Impact"/>
                <a:cs typeface="Impact"/>
              </a:rPr>
              <a:t> </a:t>
            </a:r>
            <a:r>
              <a:rPr dirty="0" sz="2000" spc="-55">
                <a:latin typeface="Impact"/>
                <a:cs typeface="Impact"/>
              </a:rPr>
              <a:t>DATA</a:t>
            </a:r>
            <a:r>
              <a:rPr dirty="0" sz="2000" spc="-10">
                <a:latin typeface="Impact"/>
                <a:cs typeface="Impact"/>
              </a:rPr>
              <a:t> PREPROCESSING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CLEANING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3.</a:t>
            </a:r>
            <a:r>
              <a:rPr dirty="0" sz="2000" spc="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EXPLORATORY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50">
                <a:latin typeface="Impact"/>
                <a:cs typeface="Impact"/>
              </a:rPr>
              <a:t>DATA</a:t>
            </a:r>
            <a:r>
              <a:rPr dirty="0" sz="2000" spc="-10">
                <a:latin typeface="Impact"/>
                <a:cs typeface="Impact"/>
              </a:rPr>
              <a:t> ANALYSIS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23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4.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FEATURE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SELECTION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TRANSFORMATION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23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5.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MODEL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BUILDING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TRAINING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6. MODEL</a:t>
            </a:r>
            <a:r>
              <a:rPr dirty="0" sz="2000" spc="-20">
                <a:latin typeface="Impact"/>
                <a:cs typeface="Impact"/>
              </a:rPr>
              <a:t> EVALUATION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COMPARISON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23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7.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PREDICTION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&amp;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INTERPRETATION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PREDICTIVE</a:t>
            </a:r>
            <a:r>
              <a:rPr dirty="0" spc="-50"/>
              <a:t> </a:t>
            </a:r>
            <a:r>
              <a:rPr dirty="0"/>
              <a:t>MODELS</a:t>
            </a:r>
            <a:r>
              <a:rPr dirty="0" spc="-50"/>
              <a:t> </a:t>
            </a:r>
            <a:r>
              <a:rPr dirty="0" spc="-10"/>
              <a:t>APPLIED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555391"/>
            <a:ext cx="3822700" cy="23545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DECISION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TREES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(C&amp;R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TREE,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CHAID)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40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LINEAR/MULTIPLE</a:t>
            </a:r>
            <a:r>
              <a:rPr dirty="0" sz="2000" spc="1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REGRESSION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LOGISTIC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REGRESSION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NEURAL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NETWORKS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RANDOM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FOREST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(IF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IMPLEMENTED)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-15"/>
              <a:t> </a:t>
            </a:r>
            <a:r>
              <a:rPr dirty="0" spc="-10"/>
              <a:t>FINDINGS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02763"/>
            <a:ext cx="7134859" cy="186118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PREVIOUS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GRADES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(G1,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G2)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STRONGLY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FINAL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GRADE.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STUDY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TIME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POSITIVELY </a:t>
            </a:r>
            <a:r>
              <a:rPr dirty="0" sz="2000" spc="-10">
                <a:latin typeface="Impact"/>
                <a:cs typeface="Impact"/>
              </a:rPr>
              <a:t>IMPACTS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PERFORMANCE.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ABSENCES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ALCOHOL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CONSUMPTION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 spc="-30">
                <a:latin typeface="Impact"/>
                <a:cs typeface="Impact"/>
              </a:rPr>
              <a:t>NEGATIVELY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AFFECT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RESULTS.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30">
                <a:latin typeface="Impact"/>
                <a:cs typeface="Impact"/>
              </a:rPr>
              <a:t>FAMILY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SCHOOL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SUPPORT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IMPROVE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OUTCOMES.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FEASIBILITY</a:t>
            </a:r>
            <a:r>
              <a:rPr dirty="0" spc="25"/>
              <a:t> </a:t>
            </a:r>
            <a:r>
              <a:rPr dirty="0" spc="-20"/>
              <a:t>STUDY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02763"/>
            <a:ext cx="6687820" cy="186118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TECHNICALLY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FEASIBLE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WITH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SPSS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MODELER.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 spc="-45">
                <a:latin typeface="Impact"/>
                <a:cs typeface="Impact"/>
              </a:rPr>
              <a:t>COST-</a:t>
            </a:r>
            <a:r>
              <a:rPr dirty="0" sz="2000">
                <a:latin typeface="Impact"/>
                <a:cs typeface="Impact"/>
              </a:rPr>
              <a:t>EFFECTIVE</a:t>
            </a:r>
            <a:r>
              <a:rPr dirty="0" sz="2000" spc="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 spc="-25">
                <a:latin typeface="Impact"/>
                <a:cs typeface="Impact"/>
              </a:rPr>
              <a:t>OPERATIONALLY </a:t>
            </a:r>
            <a:r>
              <a:rPr dirty="0" sz="2000" spc="-10">
                <a:latin typeface="Impact"/>
                <a:cs typeface="Impact"/>
              </a:rPr>
              <a:t>PRACTICAL.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25">
                <a:latin typeface="Impact"/>
                <a:cs typeface="Impact"/>
              </a:rPr>
              <a:t>ETHICALLY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SAFE—</a:t>
            </a:r>
            <a:r>
              <a:rPr dirty="0" sz="2000" spc="-35">
                <a:latin typeface="Impact"/>
                <a:cs typeface="Impact"/>
              </a:rPr>
              <a:t>DATASET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CONTAINS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NO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PERSONAL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IDENTIFIERS.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CAN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BE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COMPLETED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WITHIN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PROJECT</a:t>
            </a:r>
            <a:r>
              <a:rPr dirty="0" sz="2000" spc="-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TIMELINE.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FUTURE </a:t>
            </a:r>
            <a:r>
              <a:rPr dirty="0" spc="-1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802763"/>
            <a:ext cx="6948805" cy="186118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INCLUDE MORE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LEARNING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BEHAVIOR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AND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PSYCHOLOGICAL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FACTORS.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DEPLOY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AS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</a:t>
            </a:r>
            <a:r>
              <a:rPr dirty="0" sz="2000" spc="-1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WEB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OR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MOBILE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DASHBOARD.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9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INTEGRATE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REAL-</a:t>
            </a:r>
            <a:r>
              <a:rPr dirty="0" sz="2000">
                <a:latin typeface="Impact"/>
                <a:cs typeface="Impact"/>
              </a:rPr>
              <a:t>TIME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MONITORING.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USE</a:t>
            </a:r>
            <a:r>
              <a:rPr dirty="0" sz="2000" spc="-10">
                <a:latin typeface="Impact"/>
                <a:cs typeface="Impact"/>
              </a:rPr>
              <a:t> ADVANCED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ML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MODELS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LIKE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XGBOOST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OR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DEEP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LEARNING.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ACKNOWLEDGMENT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3048357"/>
            <a:ext cx="5518785" cy="136969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7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IBM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SPSS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MODELER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PERFORMANCE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DATASET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ACADEMIC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RESEARCH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ON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EDUCATIONAL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55">
                <a:latin typeface="Impact"/>
                <a:cs typeface="Impact"/>
              </a:rPr>
              <a:t>DATA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MINING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3242" y="2619676"/>
            <a:ext cx="7515225" cy="21971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PREDICTIVE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ANALYTICS</a:t>
            </a:r>
            <a:r>
              <a:rPr dirty="0" sz="2000" spc="-40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EFFECTIVELY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FORECASTS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PERFORMANCE.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HELPS</a:t>
            </a:r>
            <a:r>
              <a:rPr dirty="0" sz="2000" spc="-5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INSTITUTIONS</a:t>
            </a:r>
            <a:r>
              <a:rPr dirty="0" sz="2000" spc="-1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IDENTIFY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90">
                <a:latin typeface="Impact"/>
                <a:cs typeface="Impact"/>
              </a:rPr>
              <a:t>AT-</a:t>
            </a:r>
            <a:r>
              <a:rPr dirty="0" sz="2000">
                <a:latin typeface="Impact"/>
                <a:cs typeface="Impact"/>
              </a:rPr>
              <a:t>RISK</a:t>
            </a:r>
            <a:r>
              <a:rPr dirty="0" sz="2000" spc="-6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STUDENTS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EARLY.</a:t>
            </a:r>
            <a:endParaRPr sz="2000">
              <a:latin typeface="Impact"/>
              <a:cs typeface="Impact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SUPPORTS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 spc="-50">
                <a:latin typeface="Impact"/>
                <a:cs typeface="Impact"/>
              </a:rPr>
              <a:t>DATA-</a:t>
            </a:r>
            <a:r>
              <a:rPr dirty="0" sz="2000">
                <a:latin typeface="Impact"/>
                <a:cs typeface="Impact"/>
              </a:rPr>
              <a:t>DRIVEN</a:t>
            </a:r>
            <a:r>
              <a:rPr dirty="0" sz="2000" spc="-35">
                <a:latin typeface="Impact"/>
                <a:cs typeface="Impact"/>
              </a:rPr>
              <a:t> </a:t>
            </a:r>
            <a:r>
              <a:rPr dirty="0" sz="2000" spc="-20">
                <a:latin typeface="Impact"/>
                <a:cs typeface="Impact"/>
              </a:rPr>
              <a:t>EDUCATIONAL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DECISIONS.</a:t>
            </a:r>
            <a:endParaRPr sz="2000">
              <a:latin typeface="Impact"/>
              <a:cs typeface="Impact"/>
            </a:endParaRPr>
          </a:p>
          <a:p>
            <a:pPr marL="240029" indent="-227329">
              <a:lnSpc>
                <a:spcPct val="100000"/>
              </a:lnSpc>
              <a:spcBef>
                <a:spcPts val="1480"/>
              </a:spcBef>
              <a:buClr>
                <a:srgbClr val="B80D0E"/>
              </a:buClr>
              <a:buSzPct val="160000"/>
              <a:buFont typeface="Arial MT"/>
              <a:buChar char="•"/>
              <a:tabLst>
                <a:tab pos="240029" algn="l"/>
              </a:tabLst>
            </a:pPr>
            <a:r>
              <a:rPr dirty="0" sz="2000">
                <a:latin typeface="Impact"/>
                <a:cs typeface="Impact"/>
              </a:rPr>
              <a:t>•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DEMONSTRATES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THE</a:t>
            </a:r>
            <a:r>
              <a:rPr dirty="0" sz="2000" spc="-4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POTENTIAL</a:t>
            </a:r>
            <a:r>
              <a:rPr dirty="0" sz="2000" spc="-3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OF</a:t>
            </a:r>
            <a:r>
              <a:rPr dirty="0" sz="2000" spc="-25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SPSS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MODELER</a:t>
            </a:r>
            <a:r>
              <a:rPr dirty="0" sz="2000" spc="-50">
                <a:latin typeface="Impact"/>
                <a:cs typeface="Impact"/>
              </a:rPr>
              <a:t> </a:t>
            </a:r>
            <a:r>
              <a:rPr dirty="0" sz="2000">
                <a:latin typeface="Impact"/>
                <a:cs typeface="Impact"/>
              </a:rPr>
              <a:t>IN</a:t>
            </a:r>
            <a:r>
              <a:rPr dirty="0" sz="2000" spc="-20">
                <a:latin typeface="Impact"/>
                <a:cs typeface="Impact"/>
              </a:rPr>
              <a:t> </a:t>
            </a:r>
            <a:r>
              <a:rPr dirty="0" sz="2000" spc="-10">
                <a:latin typeface="Impact"/>
                <a:cs typeface="Impact"/>
              </a:rPr>
              <a:t>ACADEMIC</a:t>
            </a:r>
            <a:endParaRPr sz="2000">
              <a:latin typeface="Impact"/>
              <a:cs typeface="Impact"/>
            </a:endParaRPr>
          </a:p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latin typeface="Impact"/>
                <a:cs typeface="Impact"/>
              </a:rPr>
              <a:t>ANALYTICS.</a:t>
            </a:r>
            <a:endParaRPr sz="20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dirty="0" spc="-25"/>
              <a:t> </a:t>
            </a:r>
            <a:r>
              <a:rPr dirty="0" spc="-10"/>
              <a:t>STREAM: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1622044"/>
            <a:ext cx="7998333" cy="38752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2194" y="2771978"/>
            <a:ext cx="271335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000000"/>
                </a:solidFill>
              </a:rPr>
              <a:t>Thank</a:t>
            </a:r>
            <a:r>
              <a:rPr dirty="0" sz="4800" spc="-75">
                <a:solidFill>
                  <a:srgbClr val="000000"/>
                </a:solidFill>
              </a:rPr>
              <a:t> </a:t>
            </a:r>
            <a:r>
              <a:rPr dirty="0" sz="4800" spc="-25">
                <a:solidFill>
                  <a:srgbClr val="000000"/>
                </a:solidFill>
              </a:rPr>
              <a:t>You!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Priyanshu Kumar</dc:creator>
  <dcterms:created xsi:type="dcterms:W3CDTF">2025-11-23T05:42:49Z</dcterms:created>
  <dcterms:modified xsi:type="dcterms:W3CDTF">2025-11-23T05:42:49Z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2025-11-23T00:00:00Z</vt:filetime>
  </property>
  <property fmtid="{D5CDD505-2E9C-101B-9397-08002B2CF9AE}" pid="5" name="Producer">
    <vt:lpwstr>Microsoft® PowerPoint® 2021</vt:lpwstr>
  </property>
</Properties>
</file>